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1" r:id="rId7"/>
    <p:sldId id="273" r:id="rId8"/>
    <p:sldId id="274" r:id="rId9"/>
    <p:sldId id="276" r:id="rId10"/>
    <p:sldId id="275" r:id="rId11"/>
    <p:sldId id="277"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29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1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5193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676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9458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9329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6834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8762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8536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7609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7334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5172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59403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9155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98156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7634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1/22/2026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695086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 Process Models</a:t>
            </a:r>
          </a:p>
        </p:txBody>
      </p:sp>
      <p:sp>
        <p:nvSpPr>
          <p:cNvPr id="3" name="Content Placeholder 2"/>
          <p:cNvSpPr>
            <a:spLocks noGrp="1"/>
          </p:cNvSpPr>
          <p:nvPr>
            <p:ph idx="1"/>
          </p:nvPr>
        </p:nvSpPr>
        <p:spPr/>
        <p:txBody>
          <a:bodyPr/>
          <a:lstStyle/>
          <a:p>
            <a:r>
              <a:t>Introduction to Software Process Models</a:t>
            </a:r>
          </a:p>
          <a:p>
            <a:r>
              <a:t>Focus: Waterfall and V-Model</a:t>
            </a:r>
          </a:p>
          <a:p>
            <a:r>
              <a:t>Software Development Life Cycle (SDLC)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Software Process Models</a:t>
            </a:r>
          </a:p>
        </p:txBody>
      </p:sp>
      <p:sp>
        <p:nvSpPr>
          <p:cNvPr id="3" name="Content Placeholder 2"/>
          <p:cNvSpPr>
            <a:spLocks noGrp="1"/>
          </p:cNvSpPr>
          <p:nvPr>
            <p:ph idx="1"/>
          </p:nvPr>
        </p:nvSpPr>
        <p:spPr/>
        <p:txBody>
          <a:bodyPr/>
          <a:lstStyle/>
          <a:p>
            <a:r>
              <a:t>Systematic approach to software development</a:t>
            </a:r>
          </a:p>
          <a:p>
            <a:r>
              <a:t>Defines phases, activities, and deliverables</a:t>
            </a:r>
          </a:p>
          <a:p>
            <a:r>
              <a:t>Improves planning, control, and quality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Software Process Models?</a:t>
            </a:r>
          </a:p>
        </p:txBody>
      </p:sp>
      <p:sp>
        <p:nvSpPr>
          <p:cNvPr id="3" name="Content Placeholder 2"/>
          <p:cNvSpPr>
            <a:spLocks noGrp="1"/>
          </p:cNvSpPr>
          <p:nvPr>
            <p:ph idx="1"/>
          </p:nvPr>
        </p:nvSpPr>
        <p:spPr/>
        <p:txBody>
          <a:bodyPr/>
          <a:lstStyle/>
          <a:p>
            <a:r>
              <a:t>Clear development structure</a:t>
            </a:r>
          </a:p>
          <a:p>
            <a:r>
              <a:t>Better project management</a:t>
            </a:r>
          </a:p>
          <a:p>
            <a:r>
              <a:t>Reduced risks</a:t>
            </a:r>
          </a:p>
          <a:p>
            <a:r>
              <a:t>Improved documentation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Waterfall Model</a:t>
            </a:r>
          </a:p>
        </p:txBody>
      </p:sp>
      <p:sp>
        <p:nvSpPr>
          <p:cNvPr id="3" name="Content Placeholder 2"/>
          <p:cNvSpPr>
            <a:spLocks noGrp="1"/>
          </p:cNvSpPr>
          <p:nvPr>
            <p:ph idx="1"/>
          </p:nvPr>
        </p:nvSpPr>
        <p:spPr/>
        <p:txBody>
          <a:bodyPr/>
          <a:lstStyle/>
          <a:p>
            <a:r>
              <a:t>Linear and sequential model</a:t>
            </a:r>
          </a:p>
          <a:p>
            <a:r>
              <a:t>Each phase completed before next begins</a:t>
            </a:r>
          </a:p>
          <a:p>
            <a:r>
              <a:t>Documentation-driven approach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Waterfall Model – Phases</a:t>
            </a:r>
          </a:p>
        </p:txBody>
      </p:sp>
      <p:sp>
        <p:nvSpPr>
          <p:cNvPr id="3" name="Content Placeholder 2"/>
          <p:cNvSpPr>
            <a:spLocks noGrp="1"/>
          </p:cNvSpPr>
          <p:nvPr>
            <p:ph idx="1"/>
          </p:nvPr>
        </p:nvSpPr>
        <p:spPr/>
        <p:txBody>
          <a:bodyPr/>
          <a:lstStyle/>
          <a:p>
            <a:r>
              <a:t>Requirements Analysis</a:t>
            </a:r>
          </a:p>
          <a:p>
            <a:r>
              <a:t>System Design</a:t>
            </a:r>
          </a:p>
          <a:p>
            <a:r>
              <a:t>Implementation</a:t>
            </a:r>
          </a:p>
          <a:p>
            <a:r>
              <a:t>Testing</a:t>
            </a:r>
          </a:p>
          <a:p>
            <a:r>
              <a:t>Deployment &amp; Maintenance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Waterfall Model – Diagram (Conceptual)</a:t>
            </a:r>
          </a:p>
        </p:txBody>
      </p:sp>
      <p:sp>
        <p:nvSpPr>
          <p:cNvPr id="3" name="Content Placeholder 2"/>
          <p:cNvSpPr>
            <a:spLocks noGrp="1"/>
          </p:cNvSpPr>
          <p:nvPr>
            <p:ph idx="1"/>
          </p:nvPr>
        </p:nvSpPr>
        <p:spPr/>
        <p:txBody>
          <a:bodyPr/>
          <a:lstStyle/>
          <a:p>
            <a:r>
              <a:t>Requirements ↓</a:t>
            </a:r>
          </a:p>
          <a:p>
            <a:r>
              <a:t>Design ↓</a:t>
            </a:r>
          </a:p>
          <a:p>
            <a:r>
              <a:t>Implementation ↓</a:t>
            </a:r>
          </a:p>
          <a:p>
            <a:r>
              <a:t>Testing ↓</a:t>
            </a:r>
          </a:p>
          <a:p>
            <a:r>
              <a:t>Maintenance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FB005-873F-3067-6BB6-ADFF0D625DFC}"/>
              </a:ext>
            </a:extLst>
          </p:cNvPr>
          <p:cNvSpPr>
            <a:spLocks noGrp="1"/>
          </p:cNvSpPr>
          <p:nvPr>
            <p:ph type="title"/>
          </p:nvPr>
        </p:nvSpPr>
        <p:spPr/>
        <p:txBody>
          <a:bodyPr>
            <a:normAutofit/>
          </a:bodyPr>
          <a:lstStyle/>
          <a:p>
            <a:r>
              <a:rPr lang="en-US" b="1" dirty="0"/>
              <a:t> Planning and Requirements</a:t>
            </a:r>
            <a:br>
              <a:rPr lang="en-US" b="1" dirty="0"/>
            </a:br>
            <a:endParaRPr lang="en-US" dirty="0"/>
          </a:p>
        </p:txBody>
      </p:sp>
      <p:sp>
        <p:nvSpPr>
          <p:cNvPr id="3" name="Content Placeholder 2">
            <a:extLst>
              <a:ext uri="{FF2B5EF4-FFF2-40B4-BE49-F238E27FC236}">
                <a16:creationId xmlns:a16="http://schemas.microsoft.com/office/drawing/2014/main" id="{FB4CD15A-730E-16B4-1D4F-9B7A15A711A4}"/>
              </a:ext>
            </a:extLst>
          </p:cNvPr>
          <p:cNvSpPr>
            <a:spLocks noGrp="1"/>
          </p:cNvSpPr>
          <p:nvPr>
            <p:ph idx="1"/>
          </p:nvPr>
        </p:nvSpPr>
        <p:spPr/>
        <p:txBody>
          <a:bodyPr>
            <a:normAutofit/>
          </a:bodyPr>
          <a:lstStyle/>
          <a:p>
            <a:pPr algn="just"/>
            <a:r>
              <a:rPr lang="en-US" dirty="0"/>
              <a:t>The planning phase is the foundation of the Waterfall methodology. It involves gathering and documenting all project requirements, defining objectives, and creating a detailed project plan. Stakeholders collaborate to ensure that the requirements are clear, achievable, and aligned with business goals.</a:t>
            </a:r>
          </a:p>
          <a:p>
            <a:pPr marL="0" indent="0">
              <a:buNone/>
            </a:pPr>
            <a:r>
              <a:rPr lang="en-US" dirty="0"/>
              <a:t>Key activities in this phase include:</a:t>
            </a:r>
          </a:p>
          <a:p>
            <a:r>
              <a:rPr lang="en-US" dirty="0"/>
              <a:t>Conducting feasibility studies.</a:t>
            </a:r>
          </a:p>
          <a:p>
            <a:r>
              <a:rPr lang="en-US" dirty="0"/>
              <a:t>Identifying project scope and constraints.</a:t>
            </a:r>
          </a:p>
          <a:p>
            <a:r>
              <a:rPr lang="en-US" dirty="0"/>
              <a:t>Developing a comprehensive project timeline.</a:t>
            </a:r>
          </a:p>
          <a:p>
            <a:r>
              <a:rPr lang="en-US" dirty="0"/>
              <a:t>Allocating resources and defining roles.</a:t>
            </a:r>
          </a:p>
          <a:p>
            <a:endParaRPr lang="en-US" dirty="0"/>
          </a:p>
        </p:txBody>
      </p:sp>
    </p:spTree>
    <p:extLst>
      <p:ext uri="{BB962C8B-B14F-4D97-AF65-F5344CB8AC3E}">
        <p14:creationId xmlns:p14="http://schemas.microsoft.com/office/powerpoint/2010/main" val="242899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E0D39-D852-54A3-39A1-A1A29AB469D6}"/>
              </a:ext>
            </a:extLst>
          </p:cNvPr>
          <p:cNvSpPr>
            <a:spLocks noGrp="1"/>
          </p:cNvSpPr>
          <p:nvPr>
            <p:ph type="title"/>
          </p:nvPr>
        </p:nvSpPr>
        <p:spPr/>
        <p:txBody>
          <a:bodyPr>
            <a:normAutofit fontScale="90000"/>
          </a:bodyPr>
          <a:lstStyle/>
          <a:p>
            <a:r>
              <a:rPr lang="en-US" b="1" dirty="0"/>
              <a:t>Phase 2: Design and Development</a:t>
            </a:r>
            <a:br>
              <a:rPr lang="en-US" b="1" dirty="0"/>
            </a:br>
            <a:endParaRPr lang="en-US" dirty="0"/>
          </a:p>
        </p:txBody>
      </p:sp>
      <p:sp>
        <p:nvSpPr>
          <p:cNvPr id="3" name="Content Placeholder 2">
            <a:extLst>
              <a:ext uri="{FF2B5EF4-FFF2-40B4-BE49-F238E27FC236}">
                <a16:creationId xmlns:a16="http://schemas.microsoft.com/office/drawing/2014/main" id="{A9DFA00C-AA1C-69EF-A09E-4D599742E049}"/>
              </a:ext>
            </a:extLst>
          </p:cNvPr>
          <p:cNvSpPr>
            <a:spLocks noGrp="1"/>
          </p:cNvSpPr>
          <p:nvPr>
            <p:ph idx="1"/>
          </p:nvPr>
        </p:nvSpPr>
        <p:spPr/>
        <p:txBody>
          <a:bodyPr>
            <a:normAutofit/>
          </a:bodyPr>
          <a:lstStyle/>
          <a:p>
            <a:r>
              <a:rPr lang="en-US" dirty="0"/>
              <a:t>Once the planning phase is complete, the design phase begins. This stage focuses on creating detailed blueprints for the project, including system architecture, user interfaces, and workflows. The development phase follows, where the actual product or solution is built based on the design specifications.</a:t>
            </a:r>
          </a:p>
          <a:p>
            <a:pPr marL="0" indent="0">
              <a:buNone/>
            </a:pPr>
            <a:r>
              <a:rPr lang="en-US" dirty="0"/>
              <a:t>Key activities in this phase include:</a:t>
            </a:r>
          </a:p>
          <a:p>
            <a:r>
              <a:rPr lang="en-US" dirty="0"/>
              <a:t>Creating wireframes and prototypes.</a:t>
            </a:r>
          </a:p>
          <a:p>
            <a:r>
              <a:rPr lang="en-US" dirty="0"/>
              <a:t>Writing code and building the system.</a:t>
            </a:r>
          </a:p>
          <a:p>
            <a:r>
              <a:rPr lang="en-US" dirty="0"/>
              <a:t>Conducting initial unit tests to ensure functionality.</a:t>
            </a:r>
          </a:p>
          <a:p>
            <a:endParaRPr lang="en-US" dirty="0"/>
          </a:p>
        </p:txBody>
      </p:sp>
    </p:spTree>
    <p:extLst>
      <p:ext uri="{BB962C8B-B14F-4D97-AF65-F5344CB8AC3E}">
        <p14:creationId xmlns:p14="http://schemas.microsoft.com/office/powerpoint/2010/main" val="947520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6857-4636-C354-9159-1C9A372FB881}"/>
              </a:ext>
            </a:extLst>
          </p:cNvPr>
          <p:cNvSpPr>
            <a:spLocks noGrp="1"/>
          </p:cNvSpPr>
          <p:nvPr>
            <p:ph type="title"/>
          </p:nvPr>
        </p:nvSpPr>
        <p:spPr/>
        <p:txBody>
          <a:bodyPr>
            <a:normAutofit fontScale="90000"/>
          </a:bodyPr>
          <a:lstStyle/>
          <a:p>
            <a:r>
              <a:rPr lang="en-US" b="1" dirty="0"/>
              <a:t>Advantages of Using Waterfall Methodology</a:t>
            </a:r>
            <a:br>
              <a:rPr lang="en-US" b="1" dirty="0"/>
            </a:br>
            <a:endParaRPr lang="en-US" dirty="0"/>
          </a:p>
        </p:txBody>
      </p:sp>
      <p:sp>
        <p:nvSpPr>
          <p:cNvPr id="3" name="Content Placeholder 2">
            <a:extLst>
              <a:ext uri="{FF2B5EF4-FFF2-40B4-BE49-F238E27FC236}">
                <a16:creationId xmlns:a16="http://schemas.microsoft.com/office/drawing/2014/main" id="{F0A04753-35B4-47EB-B783-4A77068ABF96}"/>
              </a:ext>
            </a:extLst>
          </p:cNvPr>
          <p:cNvSpPr>
            <a:spLocks noGrp="1"/>
          </p:cNvSpPr>
          <p:nvPr>
            <p:ph idx="1"/>
          </p:nvPr>
        </p:nvSpPr>
        <p:spPr/>
        <p:txBody>
          <a:bodyPr>
            <a:normAutofit fontScale="92500"/>
          </a:bodyPr>
          <a:lstStyle/>
          <a:p>
            <a:r>
              <a:rPr lang="en-US" b="1" dirty="0"/>
              <a:t>Clarity and Structure</a:t>
            </a:r>
            <a:r>
              <a:rPr lang="en-US" dirty="0"/>
              <a:t>: The linear approach ensures that all team members understand their roles and responsibilities.</a:t>
            </a:r>
          </a:p>
          <a:p>
            <a:r>
              <a:rPr lang="en-US" b="1" dirty="0"/>
              <a:t>Predictable Timelines</a:t>
            </a:r>
            <a:r>
              <a:rPr lang="en-US" dirty="0"/>
              <a:t>: Detailed planning allows for accurate forecasting of project timelines and budgets.</a:t>
            </a:r>
          </a:p>
          <a:p>
            <a:r>
              <a:rPr lang="en-US" b="1" dirty="0"/>
              <a:t>Thorough Documentation</a:t>
            </a:r>
            <a:r>
              <a:rPr lang="en-US" dirty="0"/>
              <a:t>: Comprehensive records provide a clear audit trail and facilitate knowledge transfer.</a:t>
            </a:r>
          </a:p>
          <a:p>
            <a:r>
              <a:rPr lang="en-US" b="1" dirty="0"/>
              <a:t>Ideal for Stable Requirements</a:t>
            </a:r>
            <a:r>
              <a:rPr lang="en-US" dirty="0"/>
              <a:t>: Waterfall excels in projects with well-defined and unchanging requirements.</a:t>
            </a:r>
          </a:p>
          <a:p>
            <a:r>
              <a:rPr lang="en-US" b="1" dirty="0"/>
              <a:t>Quality Assurance</a:t>
            </a:r>
            <a:r>
              <a:rPr lang="en-US" dirty="0"/>
              <a:t>: Rigorous testing ensures that the final product meets all specifications.</a:t>
            </a:r>
          </a:p>
          <a:p>
            <a:endParaRPr lang="en-US" dirty="0"/>
          </a:p>
        </p:txBody>
      </p:sp>
    </p:spTree>
    <p:extLst>
      <p:ext uri="{BB962C8B-B14F-4D97-AF65-F5344CB8AC3E}">
        <p14:creationId xmlns:p14="http://schemas.microsoft.com/office/powerpoint/2010/main" val="1809272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2621B-03FA-F656-A8B1-AF331CA7CD8C}"/>
              </a:ext>
            </a:extLst>
          </p:cNvPr>
          <p:cNvSpPr>
            <a:spLocks noGrp="1"/>
          </p:cNvSpPr>
          <p:nvPr>
            <p:ph type="title"/>
          </p:nvPr>
        </p:nvSpPr>
        <p:spPr/>
        <p:txBody>
          <a:bodyPr>
            <a:normAutofit fontScale="90000"/>
          </a:bodyPr>
          <a:lstStyle/>
          <a:p>
            <a:r>
              <a:rPr lang="en-US" b="1" dirty="0"/>
              <a:t>Common Pitfalls and How to Avoid Them</a:t>
            </a:r>
            <a:br>
              <a:rPr lang="en-US" b="1" dirty="0"/>
            </a:br>
            <a:endParaRPr lang="en-US" dirty="0"/>
          </a:p>
        </p:txBody>
      </p:sp>
      <p:sp>
        <p:nvSpPr>
          <p:cNvPr id="3" name="Content Placeholder 2">
            <a:extLst>
              <a:ext uri="{FF2B5EF4-FFF2-40B4-BE49-F238E27FC236}">
                <a16:creationId xmlns:a16="http://schemas.microsoft.com/office/drawing/2014/main" id="{0F1A3F10-0648-09D1-1B37-6E82B9CBDE8E}"/>
              </a:ext>
            </a:extLst>
          </p:cNvPr>
          <p:cNvSpPr>
            <a:spLocks noGrp="1"/>
          </p:cNvSpPr>
          <p:nvPr>
            <p:ph idx="1"/>
          </p:nvPr>
        </p:nvSpPr>
        <p:spPr/>
        <p:txBody>
          <a:bodyPr/>
          <a:lstStyle/>
          <a:p>
            <a:r>
              <a:rPr lang="en-US" b="1" dirty="0"/>
              <a:t>Inflexibility</a:t>
            </a:r>
            <a:r>
              <a:rPr lang="en-US" dirty="0"/>
              <a:t>: Changes in requirements can disrupt the entire project. Mitigation: Conduct thorough requirement analysis upfront.</a:t>
            </a:r>
          </a:p>
          <a:p>
            <a:r>
              <a:rPr lang="en-US" b="1" dirty="0"/>
              <a:t>Delayed Testing</a:t>
            </a:r>
            <a:r>
              <a:rPr lang="en-US" dirty="0"/>
              <a:t>: Testing occurs late in the process, increasing the risk of discovering major issues. Mitigation: Incorporate early validation checkpoints.</a:t>
            </a:r>
          </a:p>
          <a:p>
            <a:r>
              <a:rPr lang="en-US" b="1" dirty="0"/>
              <a:t>Resource Bottlenecks</a:t>
            </a:r>
            <a:r>
              <a:rPr lang="en-US" dirty="0"/>
              <a:t>: Sequential phases can lead to idle resources. Mitigation: Optimize resource allocation and parallelize tasks where possible.</a:t>
            </a:r>
          </a:p>
          <a:p>
            <a:r>
              <a:rPr lang="en-US" b="1" dirty="0"/>
              <a:t>Over-Reliance on Documentation</a:t>
            </a:r>
            <a:r>
              <a:rPr lang="en-US" dirty="0"/>
              <a:t>: Excessive focus on documentation can slow progress. Mitigation: Balance documentation with actionable deliverables.</a:t>
            </a:r>
          </a:p>
          <a:p>
            <a:endParaRPr lang="en-US" dirty="0"/>
          </a:p>
        </p:txBody>
      </p:sp>
    </p:spTree>
    <p:extLst>
      <p:ext uri="{BB962C8B-B14F-4D97-AF65-F5344CB8AC3E}">
        <p14:creationId xmlns:p14="http://schemas.microsoft.com/office/powerpoint/2010/main" val="423753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ABDD0-007A-A0A4-40A1-01B6C82C254B}"/>
              </a:ext>
            </a:extLst>
          </p:cNvPr>
          <p:cNvSpPr>
            <a:spLocks noGrp="1"/>
          </p:cNvSpPr>
          <p:nvPr>
            <p:ph type="title"/>
          </p:nvPr>
        </p:nvSpPr>
        <p:spPr/>
        <p:txBody>
          <a:bodyPr>
            <a:normAutofit fontScale="90000"/>
          </a:bodyPr>
          <a:lstStyle/>
          <a:p>
            <a:r>
              <a:rPr lang="en-US" b="1"/>
              <a:t>Top Tools for Effective Waterfall Methodology</a:t>
            </a:r>
            <a:br>
              <a:rPr lang="en-US" b="1"/>
            </a:br>
            <a:endParaRPr lang="en-US"/>
          </a:p>
        </p:txBody>
      </p:sp>
      <p:sp>
        <p:nvSpPr>
          <p:cNvPr id="3" name="Content Placeholder 2">
            <a:extLst>
              <a:ext uri="{FF2B5EF4-FFF2-40B4-BE49-F238E27FC236}">
                <a16:creationId xmlns:a16="http://schemas.microsoft.com/office/drawing/2014/main" id="{C4A24AA1-22E8-3CEA-75E2-AFFFAFDF7C28}"/>
              </a:ext>
            </a:extLst>
          </p:cNvPr>
          <p:cNvSpPr>
            <a:spLocks noGrp="1"/>
          </p:cNvSpPr>
          <p:nvPr>
            <p:ph idx="1"/>
          </p:nvPr>
        </p:nvSpPr>
        <p:spPr/>
        <p:txBody>
          <a:bodyPr/>
          <a:lstStyle/>
          <a:p>
            <a:r>
              <a:rPr lang="en-US" b="1" dirty="0"/>
              <a:t>Microsoft Project</a:t>
            </a:r>
            <a:r>
              <a:rPr lang="en-US" dirty="0"/>
              <a:t>: Ideal for creating detailed project plans and tracking progress.</a:t>
            </a:r>
          </a:p>
          <a:p>
            <a:r>
              <a:rPr lang="en-US" b="1" dirty="0"/>
              <a:t>JIRA</a:t>
            </a:r>
            <a:r>
              <a:rPr lang="en-US" dirty="0"/>
              <a:t>: While popular for Agile, JIRA can be customized for Waterfall workflows.</a:t>
            </a:r>
          </a:p>
          <a:p>
            <a:r>
              <a:rPr lang="en-US" b="1" dirty="0" err="1"/>
              <a:t>Lucidchart</a:t>
            </a:r>
            <a:r>
              <a:rPr lang="en-US" dirty="0"/>
              <a:t>: Useful for creating flowcharts and system designs.</a:t>
            </a:r>
          </a:p>
          <a:p>
            <a:r>
              <a:rPr lang="en-US" b="1" dirty="0"/>
              <a:t>Smartsheet</a:t>
            </a:r>
            <a:r>
              <a:rPr lang="en-US" dirty="0"/>
              <a:t>: Offers templates and tools for Waterfall project management.</a:t>
            </a:r>
          </a:p>
          <a:p>
            <a:r>
              <a:rPr lang="en-US" b="1" dirty="0"/>
              <a:t>Visio</a:t>
            </a:r>
            <a:r>
              <a:rPr lang="en-US" dirty="0"/>
              <a:t>: Perfect for visualizing workflows and system architecture.</a:t>
            </a:r>
          </a:p>
          <a:p>
            <a:endParaRPr lang="en-US" dirty="0"/>
          </a:p>
        </p:txBody>
      </p:sp>
    </p:spTree>
    <p:extLst>
      <p:ext uri="{BB962C8B-B14F-4D97-AF65-F5344CB8AC3E}">
        <p14:creationId xmlns:p14="http://schemas.microsoft.com/office/powerpoint/2010/main" val="3858837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 Waterfall Model</a:t>
            </a:r>
          </a:p>
        </p:txBody>
      </p:sp>
      <p:sp>
        <p:nvSpPr>
          <p:cNvPr id="3" name="Content Placeholder 2"/>
          <p:cNvSpPr>
            <a:spLocks noGrp="1"/>
          </p:cNvSpPr>
          <p:nvPr>
            <p:ph idx="1"/>
          </p:nvPr>
        </p:nvSpPr>
        <p:spPr/>
        <p:txBody>
          <a:bodyPr/>
          <a:lstStyle/>
          <a:p>
            <a:r>
              <a:rPr dirty="0"/>
              <a:t>Project: University Examination Management System</a:t>
            </a:r>
          </a:p>
          <a:p>
            <a:r>
              <a:rPr dirty="0"/>
              <a:t>Requirements fixed by administration</a:t>
            </a:r>
          </a:p>
          <a:p>
            <a:r>
              <a:rPr dirty="0"/>
              <a:t>Sequential execution</a:t>
            </a:r>
          </a:p>
          <a:p>
            <a:r>
              <a:rPr dirty="0"/>
              <a:t>Changes were costly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 Discussion – Waterfall</a:t>
            </a:r>
          </a:p>
        </p:txBody>
      </p:sp>
      <p:sp>
        <p:nvSpPr>
          <p:cNvPr id="3" name="Content Placeholder 2"/>
          <p:cNvSpPr>
            <a:spLocks noGrp="1"/>
          </p:cNvSpPr>
          <p:nvPr>
            <p:ph idx="1"/>
          </p:nvPr>
        </p:nvSpPr>
        <p:spPr/>
        <p:txBody>
          <a:bodyPr/>
          <a:lstStyle/>
          <a:p>
            <a:r>
              <a:rPr dirty="0"/>
              <a:t>Why was Waterfall suitable for this system?</a:t>
            </a:r>
          </a:p>
          <a:p>
            <a:r>
              <a:rPr dirty="0"/>
              <a:t>What problems arise if requirements change?</a:t>
            </a:r>
          </a:p>
          <a:p>
            <a:r>
              <a:rPr dirty="0"/>
              <a:t>Can this model be used for mobile apps?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V-Model</a:t>
            </a:r>
          </a:p>
        </p:txBody>
      </p:sp>
      <p:sp>
        <p:nvSpPr>
          <p:cNvPr id="3" name="Content Placeholder 2"/>
          <p:cNvSpPr>
            <a:spLocks noGrp="1"/>
          </p:cNvSpPr>
          <p:nvPr>
            <p:ph idx="1"/>
          </p:nvPr>
        </p:nvSpPr>
        <p:spPr/>
        <p:txBody>
          <a:bodyPr/>
          <a:lstStyle/>
          <a:p>
            <a:r>
              <a:t>Verification and Validation Model</a:t>
            </a:r>
          </a:p>
          <a:p>
            <a:r>
              <a:t>Extension of Waterfall</a:t>
            </a:r>
          </a:p>
          <a:p>
            <a:r>
              <a:t>Testing planned in parallel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V-Model – Phases Mapping</a:t>
            </a:r>
          </a:p>
        </p:txBody>
      </p:sp>
      <p:sp>
        <p:nvSpPr>
          <p:cNvPr id="3" name="Content Placeholder 2"/>
          <p:cNvSpPr>
            <a:spLocks noGrp="1"/>
          </p:cNvSpPr>
          <p:nvPr>
            <p:ph idx="1"/>
          </p:nvPr>
        </p:nvSpPr>
        <p:spPr/>
        <p:txBody>
          <a:bodyPr/>
          <a:lstStyle/>
          <a:p>
            <a:r>
              <a:t>Requirements ↔ Acceptance Testing</a:t>
            </a:r>
          </a:p>
          <a:p>
            <a:r>
              <a:t>System Design ↔ System Testing</a:t>
            </a:r>
          </a:p>
          <a:p>
            <a:r>
              <a:t>Module Design ↔ Unit Testing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V-Model – Diagram (Conceptual)</a:t>
            </a:r>
          </a:p>
        </p:txBody>
      </p:sp>
      <p:sp>
        <p:nvSpPr>
          <p:cNvPr id="3" name="Content Placeholder 2"/>
          <p:cNvSpPr>
            <a:spLocks noGrp="1"/>
          </p:cNvSpPr>
          <p:nvPr>
            <p:ph idx="1"/>
          </p:nvPr>
        </p:nvSpPr>
        <p:spPr/>
        <p:txBody>
          <a:bodyPr/>
          <a:lstStyle/>
          <a:p>
            <a:r>
              <a:t>Requirements → Acceptance Testing</a:t>
            </a:r>
          </a:p>
          <a:p>
            <a:r>
              <a:t>System Design → System Testing</a:t>
            </a:r>
          </a:p>
          <a:p>
            <a:r>
              <a:t>Module Design → Unit Testing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V-Model</a:t>
            </a:r>
          </a:p>
        </p:txBody>
      </p:sp>
      <p:sp>
        <p:nvSpPr>
          <p:cNvPr id="3" name="Content Placeholder 2"/>
          <p:cNvSpPr>
            <a:spLocks noGrp="1"/>
          </p:cNvSpPr>
          <p:nvPr>
            <p:ph idx="1"/>
          </p:nvPr>
        </p:nvSpPr>
        <p:spPr/>
        <p:txBody>
          <a:bodyPr/>
          <a:lstStyle/>
          <a:p>
            <a:r>
              <a:t>Early test planning</a:t>
            </a:r>
          </a:p>
          <a:p>
            <a:r>
              <a:t>Better defect detection</a:t>
            </a:r>
          </a:p>
          <a:p>
            <a:r>
              <a:t>High reliability</a:t>
            </a:r>
          </a:p>
          <a:p>
            <a:r>
              <a:t>Quality-focused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 V-Model</a:t>
            </a:r>
          </a:p>
        </p:txBody>
      </p:sp>
      <p:sp>
        <p:nvSpPr>
          <p:cNvPr id="3" name="Content Placeholder 2"/>
          <p:cNvSpPr>
            <a:spLocks noGrp="1"/>
          </p:cNvSpPr>
          <p:nvPr>
            <p:ph idx="1"/>
          </p:nvPr>
        </p:nvSpPr>
        <p:spPr/>
        <p:txBody>
          <a:bodyPr/>
          <a:lstStyle/>
          <a:p>
            <a:r>
              <a:t>Project: ATM Banking System</a:t>
            </a:r>
          </a:p>
          <a:p>
            <a:r>
              <a:t>High security &amp; reliability required</a:t>
            </a:r>
          </a:p>
          <a:p>
            <a:r>
              <a:t>Testing at each stage</a:t>
            </a:r>
          </a:p>
          <a:p>
            <a:r>
              <a:t>Reduced failures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 Discussion – V-Model</a:t>
            </a:r>
          </a:p>
        </p:txBody>
      </p:sp>
      <p:sp>
        <p:nvSpPr>
          <p:cNvPr id="3" name="Content Placeholder 2"/>
          <p:cNvSpPr>
            <a:spLocks noGrp="1"/>
          </p:cNvSpPr>
          <p:nvPr>
            <p:ph idx="1"/>
          </p:nvPr>
        </p:nvSpPr>
        <p:spPr/>
        <p:txBody>
          <a:bodyPr/>
          <a:lstStyle/>
          <a:p>
            <a:r>
              <a:t>Why is early testing important?</a:t>
            </a:r>
          </a:p>
          <a:p>
            <a:r>
              <a:t>Why is V-Model suitable for ATM systems?</a:t>
            </a:r>
          </a:p>
          <a:p>
            <a:r>
              <a:t>Can requirement changes be handled easily?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Waterfall vs V-Model</a:t>
            </a:r>
          </a:p>
        </p:txBody>
      </p:sp>
      <p:sp>
        <p:nvSpPr>
          <p:cNvPr id="3" name="Content Placeholder 2"/>
          <p:cNvSpPr>
            <a:spLocks noGrp="1"/>
          </p:cNvSpPr>
          <p:nvPr>
            <p:ph idx="1"/>
          </p:nvPr>
        </p:nvSpPr>
        <p:spPr/>
        <p:txBody>
          <a:bodyPr/>
          <a:lstStyle/>
          <a:p>
            <a:r>
              <a:t>Waterfall: Testing after development</a:t>
            </a:r>
          </a:p>
          <a:p>
            <a:r>
              <a:t>V-Model: Testing at every stage</a:t>
            </a:r>
          </a:p>
          <a:p>
            <a:r>
              <a:t>V-Model provides better quality assurance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Exam-Oriented Questions</a:t>
            </a:r>
          </a:p>
        </p:txBody>
      </p:sp>
      <p:sp>
        <p:nvSpPr>
          <p:cNvPr id="3" name="Content Placeholder 2"/>
          <p:cNvSpPr>
            <a:spLocks noGrp="1"/>
          </p:cNvSpPr>
          <p:nvPr>
            <p:ph idx="1"/>
          </p:nvPr>
        </p:nvSpPr>
        <p:spPr/>
        <p:txBody>
          <a:bodyPr/>
          <a:lstStyle/>
          <a:p>
            <a:r>
              <a:t>Define Software Process Model</a:t>
            </a:r>
          </a:p>
          <a:p>
            <a:r>
              <a:t>Explain Waterfall Model with diagram</a:t>
            </a:r>
          </a:p>
          <a:p>
            <a:r>
              <a:t>Differentiate Waterfall and V-Model</a:t>
            </a:r>
          </a:p>
          <a:p>
            <a:r>
              <a:t>Write short note on V-Model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Both are plan-driven models</a:t>
            </a:r>
          </a:p>
          <a:p>
            <a:r>
              <a:t>Suitable for stable requirements</a:t>
            </a:r>
          </a:p>
          <a:p>
            <a:r>
              <a:t>Correct model choice ensures success</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20</TotalTime>
  <Words>721</Words>
  <Application>Microsoft Office PowerPoint</Application>
  <PresentationFormat>On-screen Show (4:3)</PresentationFormat>
  <Paragraphs>107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Century Gothic</vt:lpstr>
      <vt:lpstr>Wingdings 3</vt:lpstr>
      <vt:lpstr>Wisp</vt:lpstr>
      <vt:lpstr>Software Process Models</vt:lpstr>
      <vt:lpstr>Introduction to Software Process Models</vt:lpstr>
      <vt:lpstr>Why Software Process Models?</vt:lpstr>
      <vt:lpstr>Waterfall Model</vt:lpstr>
      <vt:lpstr>Waterfall Model – Phases</vt:lpstr>
      <vt:lpstr>Waterfall Model – Diagram (Conceptual)</vt:lpstr>
      <vt:lpstr> Planning and Requirements </vt:lpstr>
      <vt:lpstr>Phase 2: Design and Development </vt:lpstr>
      <vt:lpstr>Advantages of Using Waterfall Methodology </vt:lpstr>
      <vt:lpstr>Common Pitfalls and How to Avoid Them </vt:lpstr>
      <vt:lpstr>Top Tools for Effective Waterfall Methodology </vt:lpstr>
      <vt:lpstr>Case Study – Waterfall Model</vt:lpstr>
      <vt:lpstr>Class Discussion – Waterfall</vt:lpstr>
      <vt:lpstr>V-Model</vt:lpstr>
      <vt:lpstr>V-Model – Phases Mapping</vt:lpstr>
      <vt:lpstr>V-Model – Diagram (Conceptual)</vt:lpstr>
      <vt:lpstr>Advantages of V-Model</vt:lpstr>
      <vt:lpstr>Case Study – V-Model</vt:lpstr>
      <vt:lpstr>Class Discussion – V-Model</vt:lpstr>
      <vt:lpstr>Waterfall vs V-Model</vt:lpstr>
      <vt:lpstr>Exam-Oriented Questions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4507</dc:creator>
  <cp:keywords/>
  <dc:description>generated using python-pptx</dc:description>
  <cp:lastModifiedBy>4507@fastlhr.nu.edu.pk</cp:lastModifiedBy>
  <cp:revision>6</cp:revision>
  <dcterms:created xsi:type="dcterms:W3CDTF">2013-01-27T09:14:16Z</dcterms:created>
  <dcterms:modified xsi:type="dcterms:W3CDTF">2026-01-22T04:57:07Z</dcterms:modified>
  <cp:category/>
</cp:coreProperties>
</file>